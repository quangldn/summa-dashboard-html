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669280" cy="5669280"/>
          </a:xfrm>
          <a:prstGeom prst="ellipse">
            <a:avLst/>
          </a:prstGeom>
          <a:solidFill>
            <a:srgbClr val="124191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-914400"/>
            <a:ext cx="3474720" cy="3474720"/>
          </a:xfrm>
          <a:prstGeom prst="ellipse">
            <a:avLst/>
          </a:prstGeom>
          <a:solidFill>
            <a:srgbClr val="00C2D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4206240"/>
            <a:ext cx="4206240" cy="4206240"/>
          </a:xfrm>
          <a:prstGeom prst="ellipse">
            <a:avLst/>
          </a:prstGeom>
          <a:solidFill>
            <a:srgbClr val="1C5FB8">
              <a:alpha val="2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 · SUBSYSTEM 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8288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MOFN HS OLS Configurator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recap &amp; engine + catalog roadmap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58368" y="3611880"/>
            <a:ext cx="2926080" cy="0"/>
          </a:xfrm>
          <a:prstGeom prst="line">
            <a:avLst/>
          </a:prstGeom>
          <a:noFill/>
          <a:ln w="25400">
            <a:solidFill>
              <a:srgbClr val="00C2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397764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FC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1830 GX OLS · BoM generator for hyperscaler MOFN deployments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FC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Quang — Nokia Optical Networks, Sales Engineering (Vietnam)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25 Jun 2026 · Engine v3.1 · Catalog HS Configurator v3.1.xlsx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capability-rule BoM engine for MOFN OLS builds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configurator (mofn.html) turns a handful of deployment inputs into a real, shippable Bill of Materials for Nokia 1830 GX optical line systems at hyperscaler Managed Optical Fiber Network sites — chassis, cards, power and rack space, with the reasoning shown for every pick.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514600"/>
            <a:ext cx="3611880" cy="2331720"/>
          </a:xfrm>
          <a:prstGeom prst="roundRect">
            <a:avLst>
              <a:gd name="adj" fmla="val 3529"/>
            </a:avLst>
          </a:prstGeom>
          <a:solidFill>
            <a:srgbClr val="F2F6FC"/>
          </a:solidFill>
          <a:ln/>
          <a:effectLst>
            <a:outerShdw sx="100000" sy="100000" kx="0" ky="0" algn="bl" rotWithShape="0" blurRad="88900" dist="38100" dir="5400000">
              <a:srgbClr val="0A1F3D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2807208"/>
            <a:ext cx="384048" cy="384048"/>
          </a:xfrm>
          <a:prstGeom prst="ellipse">
            <a:avLst/>
          </a:prstGeom>
          <a:solidFill>
            <a:srgbClr val="00C2DE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78892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13816" y="3429000"/>
            <a:ext cx="29900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· fiber pairs (1–8) · distance + span · amp strategy · ROADM/MUX term · rack &amp; power budget · release ceiling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70832" y="2514600"/>
            <a:ext cx="3611880" cy="2331720"/>
          </a:xfrm>
          <a:prstGeom prst="roundRect">
            <a:avLst>
              <a:gd name="adj" fmla="val 3529"/>
            </a:avLst>
          </a:prstGeom>
          <a:solidFill>
            <a:srgbClr val="F2F6FC"/>
          </a:solidFill>
          <a:ln/>
          <a:effectLst>
            <a:outerShdw sx="100000" sy="100000" kx="0" ky="0" algn="bl" rotWithShape="0" blurRad="88900" dist="38100" dir="5400000">
              <a:srgbClr val="0A1F3D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2807208"/>
            <a:ext cx="384048" cy="384048"/>
          </a:xfrm>
          <a:prstGeom prst="ellipse">
            <a:avLst/>
          </a:prstGeom>
          <a:solidFill>
            <a:srgbClr val="124191"/>
          </a:solidFill>
          <a:ln/>
        </p:spPr>
      </p:sp>
      <p:sp>
        <p:nvSpPr>
          <p:cNvPr id="11" name="Text 9"/>
          <p:cNvSpPr/>
          <p:nvPr/>
        </p:nvSpPr>
        <p:spPr>
          <a:xfrm>
            <a:off x="5239512" y="278892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681728" y="3429000"/>
            <a:ext cx="29900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Band-hierarchy selection, distance-driven topology, BIDI/uni-dir qty math, slot-based chassis consolidation, family enforcement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38744" y="2514600"/>
            <a:ext cx="3611880" cy="2331720"/>
          </a:xfrm>
          <a:prstGeom prst="roundRect">
            <a:avLst>
              <a:gd name="adj" fmla="val 3529"/>
            </a:avLst>
          </a:prstGeom>
          <a:solidFill>
            <a:srgbClr val="F2F6FC"/>
          </a:solidFill>
          <a:ln/>
          <a:effectLst>
            <a:outerShdw sx="100000" sy="100000" kx="0" ky="0" algn="bl" rotWithShape="0" blurRad="88900" dist="38100" dir="5400000">
              <a:srgbClr val="0A1F3D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531352" y="2807208"/>
            <a:ext cx="384048" cy="384048"/>
          </a:xfrm>
          <a:prstGeom prst="ellipse">
            <a:avLst/>
          </a:prstGeom>
          <a:solidFill>
            <a:srgbClr val="12B5A6"/>
          </a:solidFill>
          <a:ln/>
        </p:spPr>
      </p:sp>
      <p:sp>
        <p:nvSpPr>
          <p:cNvPr id="15" name="Text 13"/>
          <p:cNvSpPr/>
          <p:nvPr/>
        </p:nvSpPr>
        <p:spPr>
          <a:xfrm>
            <a:off x="9107424" y="278892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549640" y="3429000"/>
            <a:ext cx="29900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Per-node + per-ILA BoM, power roll-up (typ/max@40/max@55), rack-budget check, gap banners, full reasoning panel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02920" y="507492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exists: 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SE can size a full OLS link — e.g. 1800 km — into a quotable BoM in minutes, instead of hand-building it against the PowerDraw spreadsheet and the part catalog.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 · MOFN HS OLS Configurator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· ENGINE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engine generations shipped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0120" y="1435608"/>
            <a:ext cx="8778240" cy="0"/>
          </a:xfrm>
          <a:prstGeom prst="line">
            <a:avLst/>
          </a:prstGeom>
          <a:noFill/>
          <a:ln w="25400">
            <a:solidFill>
              <a:srgbClr val="C9D6EA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667512" y="1216152"/>
            <a:ext cx="438912" cy="438912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" y="12161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2697480" cy="3383280"/>
          </a:xfrm>
          <a:prstGeom prst="roundRect">
            <a:avLst>
              <a:gd name="adj" fmla="val 2712"/>
            </a:avLst>
          </a:prstGeom>
          <a:solidFill>
            <a:srgbClr val="F2F6FC"/>
          </a:solidFill>
          <a:ln/>
          <a:effectLst>
            <a:outerShdw sx="100000" sy="100000" kx="0" ky="0" algn="bl" rotWithShape="0" blurRad="88900" dist="38100" dir="5400000">
              <a:srgbClr val="0A1F3D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0664" y="180136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xlsx-direct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40664" y="2313432"/>
            <a:ext cx="1874520" cy="0"/>
          </a:xfrm>
          <a:prstGeom prst="line">
            <a:avLst/>
          </a:prstGeom>
          <a:noFill/>
          <a:ln w="12700">
            <a:solidFill>
              <a:srgbClr val="D4DE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" y="2441448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fixed scenario codes lifted straight from the catalog spreadsheet. 63 parts. Identified empty/partial scenarios + systemic OMD gaps.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93592" y="1216152"/>
            <a:ext cx="438912" cy="438912"/>
          </a:xfrm>
          <a:prstGeom prst="ellipse">
            <a:avLst/>
          </a:prstGeom>
          <a:solidFill>
            <a:srgbClr val="1C5FB8"/>
          </a:solidFill>
          <a:ln/>
        </p:spPr>
      </p:sp>
      <p:sp>
        <p:nvSpPr>
          <p:cNvPr id="12" name="Text 10"/>
          <p:cNvSpPr/>
          <p:nvPr/>
        </p:nvSpPr>
        <p:spPr>
          <a:xfrm>
            <a:off x="3593592" y="12161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29000" y="1600200"/>
            <a:ext cx="2697480" cy="3383280"/>
          </a:xfrm>
          <a:prstGeom prst="roundRect">
            <a:avLst>
              <a:gd name="adj" fmla="val 2712"/>
            </a:avLst>
          </a:prstGeom>
          <a:solidFill>
            <a:srgbClr val="F2F6FC"/>
          </a:solidFill>
          <a:ln/>
          <a:effectLst>
            <a:outerShdw sx="100000" sy="100000" kx="0" ky="0" algn="bl" rotWithShape="0" blurRad="88900" dist="38100" dir="5400000">
              <a:srgbClr val="0A1F3D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66744" y="180136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5F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capability rules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66744" y="2313432"/>
            <a:ext cx="1874520" cy="0"/>
          </a:xfrm>
          <a:prstGeom prst="line">
            <a:avLst/>
          </a:prstGeom>
          <a:noFill/>
          <a:ln w="12700">
            <a:solidFill>
              <a:srgbClr val="D4DE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66744" y="2441448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hierarchy (C++ covers C, L++ covers L). FP slider 1–8. ILA strategy split (Raman / EDFA / P2P). P2P ROADM-vs-MUX toggle. L-only band added.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19672" y="1216152"/>
            <a:ext cx="438912" cy="438912"/>
          </a:xfrm>
          <a:prstGeom prst="ellipse">
            <a:avLst/>
          </a:prstGeom>
          <a:solidFill>
            <a:srgbClr val="124191"/>
          </a:solidFill>
          <a:ln/>
        </p:spPr>
      </p:sp>
      <p:sp>
        <p:nvSpPr>
          <p:cNvPr id="18" name="Text 16"/>
          <p:cNvSpPr/>
          <p:nvPr/>
        </p:nvSpPr>
        <p:spPr>
          <a:xfrm>
            <a:off x="6519672" y="12161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55080" y="1600200"/>
            <a:ext cx="2697480" cy="3383280"/>
          </a:xfrm>
          <a:prstGeom prst="roundRect">
            <a:avLst>
              <a:gd name="adj" fmla="val 2712"/>
            </a:avLst>
          </a:prstGeom>
          <a:solidFill>
            <a:srgbClr val="F2F6FC"/>
          </a:solidFill>
          <a:ln/>
          <a:effectLst>
            <a:outerShdw sx="100000" sy="100000" kx="0" ky="0" algn="bl" rotWithShape="0" blurRad="88900" dist="38100" dir="5400000">
              <a:srgbClr val="0A1F3D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92824" y="180136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41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distance-driven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592824" y="2313432"/>
            <a:ext cx="1874520" cy="0"/>
          </a:xfrm>
          <a:prstGeom prst="line">
            <a:avLst/>
          </a:prstGeom>
          <a:noFill/>
          <a:ln w="12700">
            <a:solidFill>
              <a:srgbClr val="D4DE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92824" y="2441448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 from km: spans = ⌈total/span⌉, term = 2 endpoints, ILA = spans−1. Per-PN BIDI vs uni-directional qty math. Universal ROADM/MUX term.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445752" y="1216152"/>
            <a:ext cx="438912" cy="438912"/>
          </a:xfrm>
          <a:prstGeom prst="ellipse">
            <a:avLst/>
          </a:prstGeom>
          <a:solidFill>
            <a:srgbClr val="12B5A6"/>
          </a:solidFill>
          <a:ln/>
        </p:spPr>
      </p:sp>
      <p:sp>
        <p:nvSpPr>
          <p:cNvPr id="24" name="Text 22"/>
          <p:cNvSpPr/>
          <p:nvPr/>
        </p:nvSpPr>
        <p:spPr>
          <a:xfrm>
            <a:off x="9445752" y="12161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v3.1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281160" y="1600200"/>
            <a:ext cx="2697480" cy="3383280"/>
          </a:xfrm>
          <a:prstGeom prst="roundRect">
            <a:avLst>
              <a:gd name="adj" fmla="val 2712"/>
            </a:avLst>
          </a:prstGeom>
          <a:solidFill>
            <a:srgbClr val="EAF7FA"/>
          </a:solidFill>
          <a:ln/>
          <a:effectLst>
            <a:outerShdw sx="100000" sy="100000" kx="0" ky="0" algn="bl" rotWithShape="0" blurRad="88900" dist="38100" dir="5400000">
              <a:srgbClr val="0A1F3D">
                <a:alpha val="1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518904" y="180136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B5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518904" y="2313432"/>
            <a:ext cx="1874520" cy="0"/>
          </a:xfrm>
          <a:prstGeom prst="line">
            <a:avLst/>
          </a:prstGeom>
          <a:noFill/>
          <a:ln w="12700">
            <a:solidFill>
              <a:srgbClr val="D4DE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18904" y="2441448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C+L X+L ROADM combo, hybrid→EDFA+Raman fallback, mixed-ILA split, RPBL exclusion, OTDR toggle, slot-based chassis + family enforcement.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" y="52120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 path: a brittle scenario lookup became a rule engine that produces real distance- and direction-aware BoMs.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 · MOFN HS OLS Configurator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· DELIVERED ASSETS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Catalog, dashboard and power data — all live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611880" cy="2377440"/>
          </a:xfrm>
          <a:prstGeom prst="roundRect">
            <a:avLst>
              <a:gd name="adj" fmla="val 3462"/>
            </a:avLst>
          </a:prstGeom>
          <a:solidFill>
            <a:srgbClr val="F2F6FC"/>
          </a:solidFill>
          <a:ln/>
          <a:effectLst>
            <a:outerShdw sx="100000" sy="100000" kx="0" ky="0" algn="bl" rotWithShape="0" blurRad="88900" dist="38100" dir="5400000">
              <a:srgbClr val="0A1F3D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830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241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813816" y="26974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numbers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3816" y="3035808"/>
            <a:ext cx="3008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 in HS Configurator v3.1.xlsx — 55 PNs × 21 columns, regenerates the engine's PARTS array.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70832" y="1554480"/>
            <a:ext cx="3611880" cy="2377440"/>
          </a:xfrm>
          <a:prstGeom prst="roundRect">
            <a:avLst>
              <a:gd name="adj" fmla="val 3462"/>
            </a:avLst>
          </a:prstGeom>
          <a:solidFill>
            <a:srgbClr val="F2F6FC"/>
          </a:solidFill>
          <a:ln/>
          <a:effectLst>
            <a:outerShdw sx="100000" sy="100000" kx="0" ky="0" algn="bl" rotWithShape="0" blurRad="88900" dist="38100" dir="5400000">
              <a:srgbClr val="0A1F3D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45152" y="17830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00C2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4681728" y="26974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sections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81728" y="3035808"/>
            <a:ext cx="3008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dashboard.html renders the full Nokia hyperscaler portfolio — term chassis, OMD, OCC, ROADM, amps, ILA EDFA/Raman/Hybrid.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38744" y="1554480"/>
            <a:ext cx="3611880" cy="2377440"/>
          </a:xfrm>
          <a:prstGeom prst="roundRect">
            <a:avLst>
              <a:gd name="adj" fmla="val 3462"/>
            </a:avLst>
          </a:prstGeom>
          <a:solidFill>
            <a:srgbClr val="F2F6FC"/>
          </a:solidFill>
          <a:ln/>
          <a:effectLst>
            <a:outerShdw sx="100000" sy="100000" kx="0" ky="0" algn="bl" rotWithShape="0" blurRad="88900" dist="38100" dir="5400000">
              <a:srgbClr val="0A1F3D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513064" y="17830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2B5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8549640" y="26974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PowerDraw delta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549640" y="3035808"/>
            <a:ext cx="3008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PowerDraw R9.0 integrated; per-row typ/max@40/max@55 power matches PowerDraw to 0% on the 1800 km / 60 km baseline.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4160520"/>
            <a:ext cx="11183112" cy="1920240"/>
          </a:xfrm>
          <a:prstGeom prst="roundRect">
            <a:avLst>
              <a:gd name="adj" fmla="val 4286"/>
            </a:avLst>
          </a:prstGeom>
          <a:solidFill>
            <a:srgbClr val="0A1F3D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3159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2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Also shipped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" y="4736592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6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Hyperscaler news + APAC datacenter map on the dashboard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6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panel — every engine rule explained per BoM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6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banners (hybrid fallback, Super C+L combo, etc.)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263640" y="4736592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6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Rack &amp; power budget check (PEM-input headroom)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6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/ RELAX release-ceiling gating with roadmap flags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6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Repo-ready as v1 — engine logic archived in markdown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 · MOFN HS OLS Configurator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· ENGINE INTELLIGENCE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non-obvious rules the engine already enforces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2F6FC"/>
          </a:solidFill>
          <a:ln/>
          <a:effectLst>
            <a:outerShdw sx="100000" sy="100000" kx="0" ky="0" algn="bl" rotWithShape="0" blurRad="88900" dist="38100" dir="5400000">
              <a:srgbClr val="0A1F3D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65376"/>
            <a:ext cx="146304" cy="146304"/>
          </a:xfrm>
          <a:prstGeom prst="ellipse">
            <a:avLst/>
          </a:prstGeom>
          <a:solidFill>
            <a:srgbClr val="00C2DE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737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41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Band hierarchy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121408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8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Wider-band HW serves narrower deployments — Y covers all, X/W cover Super C, Z covers C+L. Tiebreaker prefers the closest fit, not the widest card.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6199632" y="155448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2F6FC"/>
          </a:solidFill>
          <a:ln/>
          <a:effectLst>
            <a:outerShdw sx="100000" sy="100000" kx="0" ky="0" algn="bl" rotWithShape="0" blurRad="88900" dist="38100" dir="5400000">
              <a:srgbClr val="0A1F3D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73952" y="1865376"/>
            <a:ext cx="146304" cy="146304"/>
          </a:xfrm>
          <a:prstGeom prst="ellipse">
            <a:avLst/>
          </a:prstGeom>
          <a:solidFill>
            <a:srgbClr val="00C2DE"/>
          </a:solidFill>
          <a:ln/>
        </p:spPr>
      </p:sp>
      <p:sp>
        <p:nvSpPr>
          <p:cNvPr id="10" name="Text 8"/>
          <p:cNvSpPr/>
          <p:nvPr/>
        </p:nvSpPr>
        <p:spPr>
          <a:xfrm>
            <a:off x="6748272" y="1737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41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Distance topology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748272" y="2121408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8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1800 km ÷ 60 km span → 2 term nodes + 29 ILA sites, computed automatically. Qty scales with site count, not a fixed scenario.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502920" y="315468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2F6FC"/>
          </a:solidFill>
          <a:ln/>
          <a:effectLst>
            <a:outerShdw sx="100000" sy="100000" kx="0" ky="0" algn="bl" rotWithShape="0" blurRad="88900" dist="38100" dir="5400000">
              <a:srgbClr val="0A1F3D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3465576"/>
            <a:ext cx="146304" cy="146304"/>
          </a:xfrm>
          <a:prstGeom prst="ellipse">
            <a:avLst/>
          </a:prstGeom>
          <a:solidFill>
            <a:srgbClr val="00C2DE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3337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41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BIDI vs uni-dir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51560" y="3721608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8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ILA EDFA / IRB cards are bidirectional (×1 per FP); RPB Raman cards are uni-directional (×2 per FP per site). Modeled per-PN via a bidi flag.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6199632" y="315468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2F6FC"/>
          </a:solidFill>
          <a:ln/>
          <a:effectLst>
            <a:outerShdw sx="100000" sy="100000" kx="0" ky="0" algn="bl" rotWithShape="0" blurRad="88900" dist="38100" dir="5400000">
              <a:srgbClr val="0A1F3D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73952" y="3465576"/>
            <a:ext cx="146304" cy="146304"/>
          </a:xfrm>
          <a:prstGeom prst="ellipse">
            <a:avLst/>
          </a:prstGeom>
          <a:solidFill>
            <a:srgbClr val="00C2DE"/>
          </a:solidFill>
          <a:ln/>
        </p:spPr>
      </p:sp>
      <p:sp>
        <p:nvSpPr>
          <p:cNvPr id="18" name="Text 16"/>
          <p:cNvSpPr/>
          <p:nvPr/>
        </p:nvSpPr>
        <p:spPr>
          <a:xfrm>
            <a:off x="6748272" y="3337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41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Slot-based chassis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748272" y="3721608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8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ROADM/D-prefix/4-fiber = 2 slots; rest = 1. Engine picks the smallest chassis that fits and consolidates (1× G34L over 2× G32E).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502920" y="475488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2F6FC"/>
          </a:solidFill>
          <a:ln/>
          <a:effectLst>
            <a:outerShdw sx="100000" sy="100000" kx="0" ky="0" algn="bl" rotWithShape="0" blurRad="88900" dist="38100" dir="5400000">
              <a:srgbClr val="0A1F3D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5065776"/>
            <a:ext cx="146304" cy="146304"/>
          </a:xfrm>
          <a:prstGeom prst="ellipse">
            <a:avLst/>
          </a:prstGeom>
          <a:solidFill>
            <a:srgbClr val="00C2DE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49377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41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Family enforcement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51560" y="5321808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8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G3S-G/H/R cards → full chassis (G31/G32/G34L); C/D cards → compact (G34c/G32c/G38c). Never mixes families at one site.</a:t>
            </a:r>
            <a:endParaRPr lang="en-US" sz="1180" dirty="0"/>
          </a:p>
        </p:txBody>
      </p:sp>
      <p:sp>
        <p:nvSpPr>
          <p:cNvPr id="24" name="Shape 22"/>
          <p:cNvSpPr/>
          <p:nvPr/>
        </p:nvSpPr>
        <p:spPr>
          <a:xfrm>
            <a:off x="6199632" y="475488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2F6FC"/>
          </a:solidFill>
          <a:ln/>
          <a:effectLst>
            <a:outerShdw sx="100000" sy="100000" kx="0" ky="0" algn="bl" rotWithShape="0" blurRad="88900" dist="38100" dir="5400000">
              <a:srgbClr val="0A1F3D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73952" y="5065776"/>
            <a:ext cx="146304" cy="146304"/>
          </a:xfrm>
          <a:prstGeom prst="ellipse">
            <a:avLst/>
          </a:prstGeom>
          <a:solidFill>
            <a:srgbClr val="00C2DE"/>
          </a:solidFill>
          <a:ln/>
        </p:spPr>
      </p:sp>
      <p:sp>
        <p:nvSpPr>
          <p:cNvPr id="26" name="Text 24"/>
          <p:cNvSpPr/>
          <p:nvPr/>
        </p:nvSpPr>
        <p:spPr>
          <a:xfrm>
            <a:off x="6748272" y="49377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41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fallbacks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748272" y="5321808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8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not GA → EDFA+Raman; no Y-suffix ROADM → RD32-X + RD32-L combo; ROADM's integrated EDFA → drops the separate term PBA.</a:t>
            </a:r>
            <a:endParaRPr lang="en-US" sz="118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 · MOFN HS OLS Configurator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BLOCKERS · CATALOG &amp; PLM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engine cannot fully build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11183112" cy="640080"/>
          </a:xfrm>
          <a:prstGeom prst="roundRect">
            <a:avLst>
              <a:gd name="adj" fmla="val 8571"/>
            </a:avLst>
          </a:prstGeom>
          <a:solidFill>
            <a:srgbClr val="F2F6FC"/>
          </a:solidFill>
          <a:ln/>
        </p:spPr>
      </p:sp>
      <p:sp>
        <p:nvSpPr>
          <p:cNvPr id="5" name="Shape 3"/>
          <p:cNvSpPr/>
          <p:nvPr/>
        </p:nvSpPr>
        <p:spPr>
          <a:xfrm>
            <a:off x="704088" y="1746504"/>
            <a:ext cx="256032" cy="256032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591056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Super C+L OMD (Y-suffix)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212080" y="1591056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PRIORITY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766560" y="1591056"/>
            <a:ext cx="4690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C+L MUX-based termination has no part in the catalog.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304288"/>
            <a:ext cx="11183112" cy="640080"/>
          </a:xfrm>
          <a:prstGeom prst="roundRect">
            <a:avLst>
              <a:gd name="adj" fmla="val 8571"/>
            </a:avLst>
          </a:prstGeom>
          <a:solidFill>
            <a:srgbClr val="F2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704088" y="2496312"/>
            <a:ext cx="256032" cy="256032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2340864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Super C+L EDFA-only ILA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212080" y="2340864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766560" y="2340864"/>
            <a:ext cx="4690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C+L with an EDFA-only ILA strategy returns no part — only Raman/hybrid Y cards exist.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054096"/>
            <a:ext cx="11183112" cy="640080"/>
          </a:xfrm>
          <a:prstGeom prst="roundRect">
            <a:avLst>
              <a:gd name="adj" fmla="val 8571"/>
            </a:avLst>
          </a:prstGeom>
          <a:solidFill>
            <a:srgbClr val="F2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704088" y="3246120"/>
            <a:ext cx="256032" cy="25603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309067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FP4 Super C+L is roadmap-only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212080" y="309067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766560" y="3090672"/>
            <a:ext cx="4690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buildable with R10.1 hardware: G2RPB4M-Y2 + H4IRB4SG-Z2. Zero GA path today.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803904"/>
            <a:ext cx="11183112" cy="640080"/>
          </a:xfrm>
          <a:prstGeom prst="roundRect">
            <a:avLst>
              <a:gd name="adj" fmla="val 8571"/>
            </a:avLst>
          </a:prstGeom>
          <a:solidFill>
            <a:srgbClr val="F2F6FC"/>
          </a:solidFill>
          <a:ln/>
        </p:spPr>
      </p:sp>
      <p:sp>
        <p:nvSpPr>
          <p:cNvPr id="20" name="Shape 18"/>
          <p:cNvSpPr/>
          <p:nvPr/>
        </p:nvSpPr>
        <p:spPr>
          <a:xfrm>
            <a:off x="704088" y="3995928"/>
            <a:ext cx="256032" cy="25603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/>
          <p:nvPr/>
        </p:nvSpPr>
        <p:spPr>
          <a:xfrm>
            <a:off x="1143000" y="38404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native FP5–8 cards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212080" y="38404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66560" y="3840480"/>
            <a:ext cx="4690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FP5–7 must use 2× FP4 multi-fiber sets (under-utilised); FP8 = 2× FP4 exactly.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4553712"/>
            <a:ext cx="11183112" cy="640080"/>
          </a:xfrm>
          <a:prstGeom prst="roundRect">
            <a:avLst>
              <a:gd name="adj" fmla="val 8571"/>
            </a:avLst>
          </a:prstGeom>
          <a:solidFill>
            <a:srgbClr val="F2F6FC"/>
          </a:solidFill>
          <a:ln/>
        </p:spPr>
      </p:sp>
      <p:sp>
        <p:nvSpPr>
          <p:cNvPr id="25" name="Shape 23"/>
          <p:cNvSpPr/>
          <p:nvPr/>
        </p:nvSpPr>
        <p:spPr>
          <a:xfrm>
            <a:off x="704088" y="4745736"/>
            <a:ext cx="256032" cy="25603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6" name="Text 24"/>
          <p:cNvSpPr/>
          <p:nvPr/>
        </p:nvSpPr>
        <p:spPr>
          <a:xfrm>
            <a:off x="1143000" y="459028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G34L (L-band 700 mm) not GA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212080" y="459028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66560" y="4590288"/>
            <a:ext cx="4690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R9.2 tbc — blocks L-only deployments at the term node.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2920" y="5303520"/>
            <a:ext cx="11183112" cy="640080"/>
          </a:xfrm>
          <a:prstGeom prst="roundRect">
            <a:avLst>
              <a:gd name="adj" fmla="val 8571"/>
            </a:avLst>
          </a:prstGeom>
          <a:solidFill>
            <a:srgbClr val="F2F6FC"/>
          </a:solidFill>
          <a:ln/>
        </p:spPr>
      </p:sp>
      <p:sp>
        <p:nvSpPr>
          <p:cNvPr id="30" name="Shape 28"/>
          <p:cNvSpPr/>
          <p:nvPr/>
        </p:nvSpPr>
        <p:spPr>
          <a:xfrm>
            <a:off x="704088" y="5495544"/>
            <a:ext cx="256032" cy="25603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1" name="Text 29"/>
          <p:cNvSpPr/>
          <p:nvPr/>
        </p:nvSpPr>
        <p:spPr>
          <a:xfrm>
            <a:off x="1143000" y="5340096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L-band ROADM thin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212080" y="5340096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66560" y="5340096"/>
            <a:ext cx="4690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RD32TH-L0 (R10.0); no L-band 66-deg ROADM for high-degree L nodes.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2920" y="6053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= no GA path at all · Amber = roadmap-gated or works but inefficient. All six are catalog/PLM-driven, not engine bugs.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 · MOFN HS OLS Configurator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· NEXT 2–3 VERSIONS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engine and catalog go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611880" cy="4160520"/>
          </a:xfrm>
          <a:prstGeom prst="roundRect">
            <a:avLst>
              <a:gd name="adj" fmla="val 2278"/>
            </a:avLst>
          </a:prstGeom>
          <a:solidFill>
            <a:srgbClr val="F2F6FC"/>
          </a:solidFill>
          <a:ln/>
          <a:effectLst>
            <a:outerShdw sx="100000" sy="100000" kx="0" ky="0" algn="bl" rotWithShape="0" blurRad="88900" dist="38100" dir="5400000">
              <a:srgbClr val="0A1F3D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554480"/>
            <a:ext cx="3611880" cy="868680"/>
          </a:xfrm>
          <a:prstGeom prst="roundRect">
            <a:avLst>
              <a:gd name="adj" fmla="val 9474"/>
            </a:avLst>
          </a:prstGeom>
          <a:solidFill>
            <a:srgbClr val="1C5FB8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2057400"/>
            <a:ext cx="3611880" cy="365760"/>
          </a:xfrm>
          <a:prstGeom prst="rect">
            <a:avLst/>
          </a:prstGeom>
          <a:solidFill>
            <a:srgbClr val="1C5FB8"/>
          </a:solidFill>
          <a:ln/>
        </p:spPr>
      </p:sp>
      <p:sp>
        <p:nvSpPr>
          <p:cNvPr id="7" name="Text 5"/>
          <p:cNvSpPr/>
          <p:nvPr/>
        </p:nvSpPr>
        <p:spPr>
          <a:xfrm>
            <a:off x="813816" y="167335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v3.2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32104" y="21031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 ENGINE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95528" y="2651760"/>
            <a:ext cx="308152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Channel-count filter so OMD pick is SE-driven, not first-match</a:t>
            </a:r>
            <a:endParaRPr lang="en-US" sz="1250" dirty="0"/>
          </a:p>
          <a:p>
            <a:pPr marL="165100" indent="-1651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ROADM degree filter (9 / 20 / 32 / 66-deg)</a:t>
            </a:r>
            <a:endParaRPr lang="en-US" sz="1250" dirty="0"/>
          </a:p>
          <a:p>
            <a:pPr marL="165100" indent="-1651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scheme (1+1 / OMSP / OCh-P) → extra cards &amp; diversity</a:t>
            </a:r>
            <a:endParaRPr lang="en-US" sz="1250" dirty="0"/>
          </a:p>
          <a:p>
            <a:pPr marL="165100" indent="-1651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sync as R9.2 / R10.0 parts GA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70832" y="1554480"/>
            <a:ext cx="3611880" cy="4160520"/>
          </a:xfrm>
          <a:prstGeom prst="roundRect">
            <a:avLst>
              <a:gd name="adj" fmla="val 2278"/>
            </a:avLst>
          </a:prstGeom>
          <a:solidFill>
            <a:srgbClr val="F2F6FC"/>
          </a:solidFill>
          <a:ln/>
          <a:effectLst>
            <a:outerShdw sx="100000" sy="100000" kx="0" ky="0" algn="bl" rotWithShape="0" blurRad="88900" dist="38100" dir="5400000">
              <a:srgbClr val="0A1F3D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70832" y="1554480"/>
            <a:ext cx="3611880" cy="868680"/>
          </a:xfrm>
          <a:prstGeom prst="roundRect">
            <a:avLst>
              <a:gd name="adj" fmla="val 9474"/>
            </a:avLst>
          </a:prstGeom>
          <a:solidFill>
            <a:srgbClr val="124191"/>
          </a:solidFill>
          <a:ln/>
        </p:spPr>
      </p:sp>
      <p:sp>
        <p:nvSpPr>
          <p:cNvPr id="12" name="Shape 10"/>
          <p:cNvSpPr/>
          <p:nvPr/>
        </p:nvSpPr>
        <p:spPr>
          <a:xfrm>
            <a:off x="4370832" y="2057400"/>
            <a:ext cx="3611880" cy="365760"/>
          </a:xfrm>
          <a:prstGeom prst="rect">
            <a:avLst/>
          </a:prstGeom>
          <a:solidFill>
            <a:srgbClr val="124191"/>
          </a:solidFill>
          <a:ln/>
        </p:spPr>
      </p:sp>
      <p:sp>
        <p:nvSpPr>
          <p:cNvPr id="13" name="Text 11"/>
          <p:cNvSpPr/>
          <p:nvPr/>
        </p:nvSpPr>
        <p:spPr>
          <a:xfrm>
            <a:off x="4681728" y="167335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00016" y="21031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MAJOR ENGINE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63440" y="2651760"/>
            <a:ext cx="308152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variant modeling (D encrypted vs N clear)</a:t>
            </a:r>
            <a:endParaRPr lang="en-US" sz="1250" dirty="0"/>
          </a:p>
          <a:p>
            <a:pPr marL="165100" indent="-1651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Multi-degree node topology (today term = 1-degree end of chain)</a:t>
            </a:r>
            <a:endParaRPr lang="en-US" sz="1250" dirty="0"/>
          </a:p>
          <a:p>
            <a:pPr marL="165100" indent="-1651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AC/DC power-feed → PSU SKU selection</a:t>
            </a:r>
            <a:endParaRPr lang="en-US" sz="1250" dirty="0"/>
          </a:p>
          <a:p>
            <a:pPr marL="165100" indent="-1651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Retire/confirm 11 never-assigned catalog parts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38744" y="1554480"/>
            <a:ext cx="3611880" cy="4160520"/>
          </a:xfrm>
          <a:prstGeom prst="roundRect">
            <a:avLst>
              <a:gd name="adj" fmla="val 2278"/>
            </a:avLst>
          </a:prstGeom>
          <a:solidFill>
            <a:srgbClr val="F2F6FC"/>
          </a:solidFill>
          <a:ln/>
          <a:effectLst>
            <a:outerShdw sx="100000" sy="100000" kx="0" ky="0" algn="bl" rotWithShape="0" blurRad="88900" dist="38100" dir="5400000">
              <a:srgbClr val="0A1F3D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38744" y="1554480"/>
            <a:ext cx="3611880" cy="868680"/>
          </a:xfrm>
          <a:prstGeom prst="roundRect">
            <a:avLst>
              <a:gd name="adj" fmla="val 9474"/>
            </a:avLst>
          </a:prstGeom>
          <a:solidFill>
            <a:srgbClr val="E8A33D"/>
          </a:solidFill>
          <a:ln/>
        </p:spPr>
      </p:sp>
      <p:sp>
        <p:nvSpPr>
          <p:cNvPr id="18" name="Shape 16"/>
          <p:cNvSpPr/>
          <p:nvPr/>
        </p:nvSpPr>
        <p:spPr>
          <a:xfrm>
            <a:off x="8238744" y="2057400"/>
            <a:ext cx="3611880" cy="36576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/>
          <p:nvPr/>
        </p:nvSpPr>
        <p:spPr>
          <a:xfrm>
            <a:off x="8549640" y="167335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567928" y="21031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PLM-DRIVEN, RFS-TIED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531352" y="2651760"/>
            <a:ext cx="308152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Y-suffix OMD → closes Super C+L MUX gap</a:t>
            </a:r>
            <a:endParaRPr lang="en-US" sz="1250" dirty="0"/>
          </a:p>
          <a:p>
            <a:pPr marL="165100" indent="-1651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Y-suffix EDFA-only ILA</a:t>
            </a:r>
            <a:endParaRPr lang="en-US" sz="1250" dirty="0"/>
          </a:p>
          <a:p>
            <a:pPr marL="165100" indent="-1651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FP4 Super C+L GA via R10.1 (G2RPB4M-Y2, H4IRB4SG-Z2)</a:t>
            </a:r>
            <a:endParaRPr lang="en-US" sz="1250" dirty="0"/>
          </a:p>
          <a:p>
            <a:pPr marL="165100" indent="-1651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G34L GA @ R9.2 + RD32TH-L0 @ R10.0 → unlock L-only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02920" y="58978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order: close the Super C+L MUX/EDFA gaps and degree/channel filters first — they unblock the most real quotes.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 · MOFN HS OLS Configurator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ACTIONS · PLM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to close with the product 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11183112" cy="539496"/>
          </a:xfrm>
          <a:prstGeom prst="roundRect">
            <a:avLst>
              <a:gd name="adj" fmla="val 10169"/>
            </a:avLst>
          </a:prstGeom>
          <a:solidFill>
            <a:srgbClr val="EAF7FA"/>
          </a:solidFill>
          <a:ln/>
        </p:spPr>
      </p:sp>
      <p:sp>
        <p:nvSpPr>
          <p:cNvPr id="5" name="Shape 3"/>
          <p:cNvSpPr/>
          <p:nvPr/>
        </p:nvSpPr>
        <p:spPr>
          <a:xfrm>
            <a:off x="704088" y="1627632"/>
            <a:ext cx="310896" cy="310896"/>
          </a:xfrm>
          <a:prstGeom prst="ellipse">
            <a:avLst/>
          </a:prstGeom>
          <a:solidFill>
            <a:srgbClr val="124191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627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1527048"/>
            <a:ext cx="102687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firm R10.1 RFS date — and is there any interim path for FP4 Super C+L before then?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157984"/>
            <a:ext cx="11183112" cy="539496"/>
          </a:xfrm>
          <a:prstGeom prst="roundRect">
            <a:avLst>
              <a:gd name="adj" fmla="val 10169"/>
            </a:avLst>
          </a:prstGeom>
          <a:solidFill>
            <a:srgbClr val="EAF7FA"/>
          </a:solidFill>
          <a:ln/>
        </p:spPr>
      </p:sp>
      <p:sp>
        <p:nvSpPr>
          <p:cNvPr id="9" name="Shape 7"/>
          <p:cNvSpPr/>
          <p:nvPr/>
        </p:nvSpPr>
        <p:spPr>
          <a:xfrm>
            <a:off x="704088" y="2276856"/>
            <a:ext cx="310896" cy="310896"/>
          </a:xfrm>
          <a:prstGeom prst="ellipse">
            <a:avLst/>
          </a:prstGeom>
          <a:solidFill>
            <a:srgbClr val="124191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" y="2276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2176272"/>
            <a:ext cx="102687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Y-suffix OMD (GQS-OMD-Y*) planned, or must Super C+L always terminate on a ROADM?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807208"/>
            <a:ext cx="11183112" cy="539496"/>
          </a:xfrm>
          <a:prstGeom prst="roundRect">
            <a:avLst>
              <a:gd name="adj" fmla="val 10169"/>
            </a:avLst>
          </a:prstGeom>
          <a:solidFill>
            <a:srgbClr val="EAF7FA"/>
          </a:solidFill>
          <a:ln/>
        </p:spPr>
      </p:sp>
      <p:sp>
        <p:nvSpPr>
          <p:cNvPr id="13" name="Shape 11"/>
          <p:cNvSpPr/>
          <p:nvPr/>
        </p:nvSpPr>
        <p:spPr>
          <a:xfrm>
            <a:off x="704088" y="2926080"/>
            <a:ext cx="310896" cy="310896"/>
          </a:xfrm>
          <a:prstGeom prst="ellipse">
            <a:avLst/>
          </a:prstGeom>
          <a:solidFill>
            <a:srgbClr val="124191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2825496"/>
            <a:ext cx="102687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D2ILASGM get a Y-suffix EDFA-only variant for Super C+L EDFA strategy?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3456432"/>
            <a:ext cx="11183112" cy="539496"/>
          </a:xfrm>
          <a:prstGeom prst="roundRect">
            <a:avLst>
              <a:gd name="adj" fmla="val 10169"/>
            </a:avLst>
          </a:prstGeom>
          <a:solidFill>
            <a:srgbClr val="EAF7FA"/>
          </a:solidFill>
          <a:ln/>
        </p:spPr>
      </p:sp>
      <p:sp>
        <p:nvSpPr>
          <p:cNvPr id="17" name="Shape 15"/>
          <p:cNvSpPr/>
          <p:nvPr/>
        </p:nvSpPr>
        <p:spPr>
          <a:xfrm>
            <a:off x="704088" y="3575304"/>
            <a:ext cx="310896" cy="310896"/>
          </a:xfrm>
          <a:prstGeom prst="ellipse">
            <a:avLst/>
          </a:prstGeom>
          <a:solidFill>
            <a:srgbClr val="124191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" y="35753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3474720"/>
            <a:ext cx="102687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L-band RFS dates (G34L R9.2, RD32TH-L0 R10.0) — and is L-only a sales priority?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4105656"/>
            <a:ext cx="11183112" cy="539496"/>
          </a:xfrm>
          <a:prstGeom prst="roundRect">
            <a:avLst>
              <a:gd name="adj" fmla="val 10169"/>
            </a:avLst>
          </a:prstGeom>
          <a:solidFill>
            <a:srgbClr val="F2F6FC"/>
          </a:solidFill>
          <a:ln/>
        </p:spPr>
      </p:sp>
      <p:sp>
        <p:nvSpPr>
          <p:cNvPr id="21" name="Shape 19"/>
          <p:cNvSpPr/>
          <p:nvPr/>
        </p:nvSpPr>
        <p:spPr>
          <a:xfrm>
            <a:off x="704088" y="4224528"/>
            <a:ext cx="310896" cy="310896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" y="4224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88720" y="4123944"/>
            <a:ext cx="102687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OMD selection be channel-count driven (32/40/42/48/64) rather than first-match?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2920" y="4754880"/>
            <a:ext cx="11183112" cy="539496"/>
          </a:xfrm>
          <a:prstGeom prst="roundRect">
            <a:avLst>
              <a:gd name="adj" fmla="val 10169"/>
            </a:avLst>
          </a:prstGeom>
          <a:solidFill>
            <a:srgbClr val="F2F6FC"/>
          </a:solidFill>
          <a:ln/>
        </p:spPr>
      </p:sp>
      <p:sp>
        <p:nvSpPr>
          <p:cNvPr id="25" name="Shape 23"/>
          <p:cNvSpPr/>
          <p:nvPr/>
        </p:nvSpPr>
        <p:spPr>
          <a:xfrm>
            <a:off x="704088" y="4873752"/>
            <a:ext cx="310896" cy="310896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26" name="Text 24"/>
          <p:cNvSpPr/>
          <p:nvPr/>
        </p:nvSpPr>
        <p:spPr>
          <a:xfrm>
            <a:off x="704088" y="4873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88720" y="4773168"/>
            <a:ext cx="102687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the SE be able to filter the term ROADM by degree (9/20/32/66) for node connectivity?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2920" y="5404104"/>
            <a:ext cx="11183112" cy="539496"/>
          </a:xfrm>
          <a:prstGeom prst="roundRect">
            <a:avLst>
              <a:gd name="adj" fmla="val 10169"/>
            </a:avLst>
          </a:prstGeom>
          <a:solidFill>
            <a:srgbClr val="F2F6FC"/>
          </a:solidFill>
          <a:ln/>
        </p:spPr>
      </p:sp>
      <p:sp>
        <p:nvSpPr>
          <p:cNvPr id="29" name="Shape 27"/>
          <p:cNvSpPr/>
          <p:nvPr/>
        </p:nvSpPr>
        <p:spPr>
          <a:xfrm>
            <a:off x="704088" y="5522976"/>
            <a:ext cx="310896" cy="310896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30" name="Text 28"/>
          <p:cNvSpPr/>
          <p:nvPr/>
        </p:nvSpPr>
        <p:spPr>
          <a:xfrm>
            <a:off x="704088" y="5522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88720" y="5422392"/>
            <a:ext cx="102687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11 never-assigned catalog parts — intended use, or mark for retirement?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02920" y="6126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= blocks a GA build path today. 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 = engine-UX refinement.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 · MOFN HS OLS Configurator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3566160"/>
            <a:ext cx="4937760" cy="4937760"/>
          </a:xfrm>
          <a:prstGeom prst="ellipse">
            <a:avLst/>
          </a:prstGeom>
          <a:solidFill>
            <a:srgbClr val="124191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-1828800"/>
            <a:ext cx="4389120" cy="4389120"/>
          </a:xfrm>
          <a:prstGeom prst="ellipse">
            <a:avLst/>
          </a:prstGeom>
          <a:solidFill>
            <a:srgbClr val="00C2DE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STAND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137160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v3.1 is a real BoM tool — now close the catalog gaps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85800" y="3118104"/>
            <a:ext cx="201168" cy="201168"/>
          </a:xfrm>
          <a:prstGeom prst="ellipse">
            <a:avLst/>
          </a:prstGeom>
          <a:solidFill>
            <a:srgbClr val="12B5A6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99008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2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 —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engine generations, 55-PN catalog, populated dashboard, PowerDraw at 0% delta.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3831336"/>
            <a:ext cx="201168" cy="201168"/>
          </a:xfrm>
          <a:prstGeom prst="ellipse">
            <a:avLst/>
          </a:prstGeom>
          <a:solidFill>
            <a:srgbClr val="00C2DE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370332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0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engine  —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v3.2 — channel-count + ROADM-degree + protection filters, then v4 encryption &amp; multi-degree.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4544568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441655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catalog  —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Y-suffix OMD &amp; EDFA ILA, FP4 Super C+L at R10.1, L-band at R9.2 / R10.0.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5440680"/>
            <a:ext cx="2743200" cy="0"/>
          </a:xfrm>
          <a:prstGeom prst="line">
            <a:avLst/>
          </a:prstGeom>
          <a:noFill/>
          <a:ln w="25400">
            <a:solidFill>
              <a:srgbClr val="00C2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5623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 · MOFN HS OLS Configurator   ·   Nokia ON Sales Engineering, Vietnam   ·   GMT+7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Summa MOFN HS OLS Configurator — Status &amp; Roadmap</dc:title>
  <dc:subject>PptxGenJS Presentation</dc:subject>
  <dc:creator>Quang — Nokia ON SE</dc:creator>
  <cp:lastModifiedBy>Quang — Nokia ON SE</cp:lastModifiedBy>
  <cp:revision>1</cp:revision>
  <dcterms:created xsi:type="dcterms:W3CDTF">2026-06-25T09:20:01Z</dcterms:created>
  <dcterms:modified xsi:type="dcterms:W3CDTF">2026-06-25T09:20:01Z</dcterms:modified>
</cp:coreProperties>
</file>