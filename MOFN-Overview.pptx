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852160" cy="5852160"/>
          </a:xfrm>
          <a:prstGeom prst="ellipse">
            <a:avLst/>
          </a:prstGeom>
          <a:solidFill>
            <a:srgbClr val="12419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914400"/>
            <a:ext cx="3474720" cy="3474720"/>
          </a:xfrm>
          <a:prstGeom prst="ellipse">
            <a:avLst/>
          </a:prstGeom>
          <a:solidFill>
            <a:srgbClr val="00C2D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297680"/>
            <a:ext cx="4206240" cy="4206240"/>
          </a:xfrm>
          <a:prstGeom prst="ellipse">
            <a:avLst/>
          </a:prstGeom>
          <a:solidFill>
            <a:srgbClr val="1C5FB8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1051560" cy="1051560"/>
          </a:xfrm>
          <a:prstGeom prst="ellipse">
            <a:avLst/>
          </a:prstGeom>
          <a:solidFill>
            <a:srgbClr val="00C2D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150784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20240" y="16459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Configurator to Solution Design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658368" y="2926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Nokia 1830 GX MOFN tooling is today — and the path from a sized link to a delivered customer solution.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" y="3703320"/>
            <a:ext cx="2743200" cy="0"/>
          </a:xfrm>
          <a:prstGeom prst="line">
            <a:avLst/>
          </a:prstGeom>
          <a:noFill/>
          <a:ln w="25400">
            <a:solidFill>
              <a:srgbClr val="00C2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3886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F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Optical Networks · Sales Engineering, Vietnam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GX OLS CONFIGURATOR DOES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live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74520"/>
            <a:ext cx="777240" cy="777240"/>
          </a:xfrm>
          <a:prstGeom prst="ellipse">
            <a:avLst/>
          </a:prstGeom>
          <a:solidFill>
            <a:srgbClr val="124191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0766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Band-hierarchy selection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3816" y="3136392"/>
            <a:ext cx="3008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Super C / C+L / Super C+L / L — wider-band hardware auto-covers narrower needs.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74520"/>
            <a:ext cx="777240" cy="777240"/>
          </a:xfrm>
          <a:prstGeom prst="ellipse">
            <a:avLst/>
          </a:prstGeom>
          <a:solidFill>
            <a:srgbClr val="00C2D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22" y="20766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Distance-driven topology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1728" y="3136392"/>
            <a:ext cx="3008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+ span derive spans, term nodes and ILA site count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38744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31352" y="1874520"/>
            <a:ext cx="777240" cy="777240"/>
          </a:xfrm>
          <a:prstGeom prst="ellipse">
            <a:avLst/>
          </a:prstGeom>
          <a:solidFill>
            <a:srgbClr val="12B5A6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434" y="20766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Fiber-pair scaling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3136392"/>
            <a:ext cx="3008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1–8; prefers multi-fiber cards once four or more pairs are needed.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4251960"/>
            <a:ext cx="777240" cy="777240"/>
          </a:xfrm>
          <a:prstGeom prst="ellipse">
            <a:avLst/>
          </a:prstGeom>
          <a:solidFill>
            <a:srgbClr val="1C5FB8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" y="44540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Direction-aware quantities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13816" y="5513832"/>
            <a:ext cx="3008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 vs uni-directional modeled per part — correct card counts per site.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70832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251960"/>
            <a:ext cx="777240" cy="777240"/>
          </a:xfrm>
          <a:prstGeom prst="ellipse">
            <a:avLst/>
          </a:prstGeom>
          <a:solidFill>
            <a:srgbClr val="124191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22" y="445404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81728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Slot-based chassis logic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81728" y="5513832"/>
            <a:ext cx="3008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chassis that fits, consolidated, with full/compact family enforcement.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38744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31352" y="4251960"/>
            <a:ext cx="777240" cy="7772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434" y="445404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9640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&amp; rack roll-up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549640" y="5513832"/>
            <a:ext cx="3008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PowerDraw R9.0 power and rack-budget check — matches PowerDraw to 0%.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BUILDING OUT THE CONFIGURATOR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tracks: OLS and transponder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2B5A6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187452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D9F2E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41448" y="202082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41448" y="262432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today — done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15968" y="210312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681728" y="187452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D7F3F9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202082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91456" y="262432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PSS OLS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65976" y="210312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031736" y="187452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EFF3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41464" y="202082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GX / PSS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41464" y="262432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toggle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15984" y="210312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381744" y="187452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EFF3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91472" y="202082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best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91472" y="262432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vs PSS advice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24191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6118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Transponder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331720" y="361188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FBEAD2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41448" y="375818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computing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41448" y="436168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15968" y="384048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681728" y="361188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EFF3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91456" y="375818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91456" y="436168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65976" y="384048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031736" y="361188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EFF3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41464" y="375818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41464" y="436168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15984" y="384048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9381744" y="3611880"/>
            <a:ext cx="2057400" cy="1188720"/>
          </a:xfrm>
          <a:prstGeom prst="roundRect">
            <a:avLst>
              <a:gd name="adj" fmla="val 6923"/>
            </a:avLst>
          </a:prstGeom>
          <a:solidFill>
            <a:srgbClr val="EFF3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91472" y="375818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PSS-HC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491472" y="436168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13892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0A1F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248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next step: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capacity-computing engine — it unlocks the whole transponder track. OLS meanwhile gains PSS and a GX-vs-PSS recommendation.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CENTURION · WORKS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messy topology to a WS-P import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383280" cy="2670048"/>
          </a:xfrm>
          <a:prstGeom prst="roundRect">
            <a:avLst>
              <a:gd name="adj" fmla="val 308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01952"/>
            <a:ext cx="713232" cy="713232"/>
          </a:xfrm>
          <a:prstGeom prst="ellipse">
            <a:avLst/>
          </a:prstGeom>
          <a:solidFill>
            <a:srgbClr val="8C9AA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" y="208739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topology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706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hands over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04495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pptx · xls — even a picture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list + types (OADM / ILA)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loss, segment distance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matrix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627632"/>
            <a:ext cx="3383280" cy="2670048"/>
          </a:xfrm>
          <a:prstGeom prst="roundRect">
            <a:avLst>
              <a:gd name="adj" fmla="val 3082"/>
            </a:avLst>
          </a:prstGeom>
          <a:solidFill>
            <a:srgbClr val="0A1F3D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1901952"/>
            <a:ext cx="713232" cy="713232"/>
          </a:xfrm>
          <a:prstGeom prst="ellipse">
            <a:avLst/>
          </a:prstGeom>
          <a:solidFill>
            <a:srgbClr val="12B5A6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304" y="208739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Centurion engine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45152" y="2834640"/>
            <a:ext cx="2880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topology + applies rules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sites: OADM / ILA / GT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Lat-Long mapping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fiber loss + repair margin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GT-node logic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38744" y="1627632"/>
            <a:ext cx="3401568" cy="2670048"/>
          </a:xfrm>
          <a:prstGeom prst="roundRect">
            <a:avLst>
              <a:gd name="adj" fmla="val 3082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94776" y="1901952"/>
            <a:ext cx="713232" cy="713232"/>
          </a:xfrm>
          <a:prstGeom prst="ellipse">
            <a:avLst/>
          </a:prstGeom>
          <a:solidFill>
            <a:srgbClr val="12B5A6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216" y="208739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36024" y="19202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WS-P Template.xls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13064" y="2706624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Import-ready — no rework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513064" y="3044952"/>
            <a:ext cx="2898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straight into WS-P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(25.6) + Full Design (25.12)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CSV tables too — reusable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40480" y="245059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708392" y="245059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502920" y="4572000"/>
            <a:ext cx="11137392" cy="1627632"/>
          </a:xfrm>
          <a:prstGeom prst="roundRect">
            <a:avLst>
              <a:gd name="adj" fmla="val 5056"/>
            </a:avLst>
          </a:prstGeom>
          <a:solidFill>
            <a:srgbClr val="F2F6FC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LIVE DEALS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77240" y="5138928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78408" y="5449824"/>
            <a:ext cx="237744" cy="237744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27" name="Text 22"/>
          <p:cNvSpPr/>
          <p:nvPr/>
        </p:nvSpPr>
        <p:spPr>
          <a:xfrm>
            <a:off x="1344168" y="52486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FTEL — DCO Link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344168" y="55595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tier · WS-P 25.6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462272" y="5138928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63440" y="5449824"/>
            <a:ext cx="237744" cy="237744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0" y="52486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VNPT — backhaul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5029200" y="55595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tier · validated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147304" y="5138928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348472" y="5449824"/>
            <a:ext cx="237744" cy="237744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35" name="Text 30"/>
          <p:cNvSpPr/>
          <p:nvPr/>
        </p:nvSpPr>
        <p:spPr>
          <a:xfrm>
            <a:off x="8714232" y="52486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FPT — Backbone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8714232" y="55595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· 25.12 · 97 sites · 121 segments · 5 GTs · accepted by WS-P import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Centurion · Pre-sales SE workbench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requirement to RFx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212848"/>
            <a:ext cx="9281160" cy="0"/>
          </a:xfrm>
          <a:prstGeom prst="line">
            <a:avLst/>
          </a:prstGeom>
          <a:noFill/>
          <a:ln w="25400">
            <a:solidFill>
              <a:srgbClr val="C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88336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288" y="1956816"/>
            <a:ext cx="512064" cy="512064"/>
          </a:xfrm>
          <a:prstGeom prst="ellipse">
            <a:avLst/>
          </a:prstGeom>
          <a:solidFill>
            <a:srgbClr val="12B5A6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6128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88950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&amp; topology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3648456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input: docx, pptx, xls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48828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B5A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882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2688336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7520" y="1956816"/>
            <a:ext cx="512064" cy="512064"/>
          </a:xfrm>
          <a:prstGeom prst="ellipse">
            <a:avLst/>
          </a:prstGeom>
          <a:solidFill>
            <a:srgbClr val="00C2D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14600" y="288950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Configurator &amp; sizing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14600" y="3648456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selection — GX 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48828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0C2DE"/>
          </a:solidFill>
          <a:ln/>
        </p:spPr>
      </p:sp>
      <p:sp>
        <p:nvSpPr>
          <p:cNvPr id="18" name="Text 16"/>
          <p:cNvSpPr/>
          <p:nvPr/>
        </p:nvSpPr>
        <p:spPr>
          <a:xfrm>
            <a:off x="2542032" y="4882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OLS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61104" y="2688336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1956816"/>
            <a:ext cx="512064" cy="512064"/>
          </a:xfrm>
          <a:prstGeom prst="ellipse">
            <a:avLst/>
          </a:prstGeom>
          <a:solidFill>
            <a:srgbClr val="00C2D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3752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70832" y="288950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import file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70832" y="3648456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 / TNPS import 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98264" y="48828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0C2DE"/>
          </a:solidFill>
          <a:ln/>
        </p:spPr>
      </p:sp>
      <p:sp>
        <p:nvSpPr>
          <p:cNvPr id="25" name="Text 23"/>
          <p:cNvSpPr/>
          <p:nvPr/>
        </p:nvSpPr>
        <p:spPr>
          <a:xfrm>
            <a:off x="4398264" y="4882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 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17336" y="2688336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9984" y="1956816"/>
            <a:ext cx="512064" cy="512064"/>
          </a:xfrm>
          <a:prstGeom prst="ellipse">
            <a:avLst/>
          </a:prstGeom>
          <a:solidFill>
            <a:srgbClr val="8C9AA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29984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27064" y="288950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/ CPQ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27064" y="3648456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report → verified BOM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48828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8C9AAE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4882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73568" y="2688336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86216" y="1956816"/>
            <a:ext cx="512064" cy="512064"/>
          </a:xfrm>
          <a:prstGeom prst="ellipse">
            <a:avLst/>
          </a:prstGeom>
          <a:solidFill>
            <a:srgbClr val="8C9AA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86216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083296" y="288950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Description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083296" y="3648456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(pptx) + full docx, RFx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10728" y="48828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8C9AAE"/>
          </a:solidFill>
          <a:ln/>
        </p:spPr>
      </p:sp>
      <p:sp>
        <p:nvSpPr>
          <p:cNvPr id="39" name="Text 37"/>
          <p:cNvSpPr/>
          <p:nvPr/>
        </p:nvSpPr>
        <p:spPr>
          <a:xfrm>
            <a:off x="8110728" y="4882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29800" y="2688336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442448" y="1956816"/>
            <a:ext cx="512064" cy="512064"/>
          </a:xfrm>
          <a:prstGeom prst="ellipse">
            <a:avLst/>
          </a:prstGeom>
          <a:solidFill>
            <a:srgbClr val="8C9AAE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44244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939528" y="288950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DB lookup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939528" y="3648456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CPQ verifies every PN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966960" y="48828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8C9AAE"/>
          </a:solidFill>
          <a:ln/>
        </p:spPr>
      </p:sp>
      <p:sp>
        <p:nvSpPr>
          <p:cNvPr id="46" name="Text 44"/>
          <p:cNvSpPr/>
          <p:nvPr/>
        </p:nvSpPr>
        <p:spPr>
          <a:xfrm>
            <a:off x="9966960" y="4882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623560"/>
            <a:ext cx="11137392" cy="749808"/>
          </a:xfrm>
          <a:prstGeom prst="roundRect">
            <a:avLst>
              <a:gd name="adj" fmla="val 10976"/>
            </a:avLst>
          </a:prstGeom>
          <a:solidFill>
            <a:srgbClr val="0A1F3D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705856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one pipeline: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 configurator sizes the hardware; Centurion carries the deal from topology to an RFx-ready Solution Description.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+ Centurion · Pre-sales automation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MOFN — From Configurator to Solution Design</dc:title>
  <dc:subject>PptxGenJS Presentation</dc:subject>
  <dc:creator>Quang — Nokia ON SE</dc:creator>
  <cp:lastModifiedBy>Quang — Nokia ON SE</cp:lastModifiedBy>
  <cp:revision>1</cp:revision>
  <dcterms:created xsi:type="dcterms:W3CDTF">2026-06-25T15:29:57Z</dcterms:created>
  <dcterms:modified xsi:type="dcterms:W3CDTF">2026-06-25T15:29:57Z</dcterms:modified>
</cp:coreProperties>
</file>